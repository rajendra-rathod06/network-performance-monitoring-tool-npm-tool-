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</p:sldMasterIdLst>
  <p:notesMasterIdLst>
    <p:notesMasterId r:id="rId13"/>
  </p:notesMasterIdLst>
  <p:sldIdLst>
    <p:sldId id="256" r:id="rId2"/>
    <p:sldId id="387" r:id="rId3"/>
    <p:sldId id="455" r:id="rId4"/>
    <p:sldId id="460" r:id="rId5"/>
    <p:sldId id="457" r:id="rId6"/>
    <p:sldId id="462" r:id="rId7"/>
    <p:sldId id="459" r:id="rId8"/>
    <p:sldId id="461" r:id="rId9"/>
    <p:sldId id="463" r:id="rId10"/>
    <p:sldId id="458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316041-5AFB-455E-BBC5-BAFCEB509BBF}">
          <p14:sldIdLst>
            <p14:sldId id="256"/>
            <p14:sldId id="387"/>
            <p14:sldId id="455"/>
            <p14:sldId id="460"/>
            <p14:sldId id="457"/>
            <p14:sldId id="462"/>
          </p14:sldIdLst>
        </p14:section>
        <p14:section name="Untitled Section" id="{48556A1D-108E-4B2E-BA26-C12FC8E5BB9A}">
          <p14:sldIdLst>
            <p14:sldId id="459"/>
            <p14:sldId id="461"/>
            <p14:sldId id="463"/>
            <p14:sldId id="458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5F5F5"/>
    <a:srgbClr val="000000"/>
    <a:srgbClr val="990099"/>
    <a:srgbClr val="CC3399"/>
    <a:srgbClr val="532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8E5D7D-D24D-44BD-B9C8-A4141ADF33D5}" v="2" dt="2023-05-25T03:10:31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318" autoAdjust="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mesh" userId="b2aecfd1930da117" providerId="LiveId" clId="{F28E5D7D-D24D-44BD-B9C8-A4141ADF33D5}"/>
    <pc:docChg chg="custSel modSld">
      <pc:chgData name="Paramesh" userId="b2aecfd1930da117" providerId="LiveId" clId="{F28E5D7D-D24D-44BD-B9C8-A4141ADF33D5}" dt="2023-05-25T03:10:41.474" v="3" actId="478"/>
      <pc:docMkLst>
        <pc:docMk/>
      </pc:docMkLst>
      <pc:sldChg chg="delSp mod">
        <pc:chgData name="Paramesh" userId="b2aecfd1930da117" providerId="LiveId" clId="{F28E5D7D-D24D-44BD-B9C8-A4141ADF33D5}" dt="2023-05-25T03:10:41.474" v="3" actId="478"/>
        <pc:sldMkLst>
          <pc:docMk/>
          <pc:sldMk cId="3861336387" sldId="455"/>
        </pc:sldMkLst>
        <pc:spChg chg="del">
          <ac:chgData name="Paramesh" userId="b2aecfd1930da117" providerId="LiveId" clId="{F28E5D7D-D24D-44BD-B9C8-A4141ADF33D5}" dt="2023-05-25T03:10:41.474" v="3" actId="478"/>
          <ac:spMkLst>
            <pc:docMk/>
            <pc:sldMk cId="3861336387" sldId="455"/>
            <ac:spMk id="74" creationId="{F7C4B306-2CF4-4EB6-8CBC-23F4D855C74D}"/>
          </ac:spMkLst>
        </pc:spChg>
        <pc:grpChg chg="del">
          <ac:chgData name="Paramesh" userId="b2aecfd1930da117" providerId="LiveId" clId="{F28E5D7D-D24D-44BD-B9C8-A4141ADF33D5}" dt="2023-05-25T03:10:40.035" v="2" actId="478"/>
          <ac:grpSpMkLst>
            <pc:docMk/>
            <pc:sldMk cId="3861336387" sldId="455"/>
            <ac:grpSpMk id="61" creationId="{77F83582-CE09-46A9-BA33-433431B34F1D}"/>
          </ac:grpSpMkLst>
        </pc:grpChg>
      </pc:sldChg>
      <pc:sldChg chg="addSp delSp">
        <pc:chgData name="Paramesh" userId="b2aecfd1930da117" providerId="LiveId" clId="{F28E5D7D-D24D-44BD-B9C8-A4141ADF33D5}" dt="2023-05-25T03:10:31.964" v="1" actId="478"/>
        <pc:sldMkLst>
          <pc:docMk/>
          <pc:sldMk cId="41426684" sldId="456"/>
        </pc:sldMkLst>
        <pc:grpChg chg="add del">
          <ac:chgData name="Paramesh" userId="b2aecfd1930da117" providerId="LiveId" clId="{F28E5D7D-D24D-44BD-B9C8-A4141ADF33D5}" dt="2023-05-25T03:10:31.964" v="1" actId="478"/>
          <ac:grpSpMkLst>
            <pc:docMk/>
            <pc:sldMk cId="41426684" sldId="456"/>
            <ac:grpSpMk id="93" creationId="{E0BB9DFF-9B88-4FEC-AEE3-6588ABB8C7F4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04D3E-AB25-4865-88B1-E5CEDFA4F726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B107A-A654-4768-8807-756F0176A7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34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4AC1B-9728-40CC-8AFA-B70FE8D3735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BC25D-747D-450D-B684-F3A38648BB58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8" name="Flowchart: Manual Input 5"/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Flowchart: Manual Input 5"/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b="37125"/>
          <a:stretch/>
        </p:blipFill>
        <p:spPr>
          <a:xfrm>
            <a:off x="254475" y="3208830"/>
            <a:ext cx="6915786" cy="33751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760542" cy="11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4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3BC5-34EF-44B2-83AC-D5533E46F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309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62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6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5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88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6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1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0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60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444161" cy="983068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4475" y="6502400"/>
            <a:ext cx="11683050" cy="70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7956645" y="6476902"/>
            <a:ext cx="3980880" cy="435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200" b="0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1430466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444161" cy="983068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4475" y="6502400"/>
            <a:ext cx="11683050" cy="70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7956645" y="6476902"/>
            <a:ext cx="3980880" cy="435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200" b="0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3371834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444161" cy="983068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4475" y="6502400"/>
            <a:ext cx="11683050" cy="70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7956645" y="6476902"/>
            <a:ext cx="3980880" cy="435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200" b="0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169876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444161" cy="983068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4475" y="6502400"/>
            <a:ext cx="11683050" cy="70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7956645" y="6476902"/>
            <a:ext cx="3980880" cy="435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200" b="0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4072462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444161" cy="983068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4475" y="6502400"/>
            <a:ext cx="11683050" cy="70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7956645" y="6476902"/>
            <a:ext cx="3980880" cy="435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200" b="0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843932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444161" cy="983068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4475" y="6502400"/>
            <a:ext cx="11683050" cy="70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7956645" y="6476902"/>
            <a:ext cx="3980880" cy="435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200" b="0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1597538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359785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2627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268668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3"/>
          <a:stretch/>
        </p:blipFill>
        <p:spPr>
          <a:xfrm>
            <a:off x="245097" y="1534163"/>
            <a:ext cx="2393627" cy="47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46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23825" y="138112"/>
            <a:ext cx="11944351" cy="6581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03412" y="1049867"/>
            <a:ext cx="113652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721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17672-D273-40A8-9069-31B0837D574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3BC5-34EF-44B2-83AC-D5533E46F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8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660" r:id="rId18"/>
    <p:sldLayoutId id="2147483680" r:id="rId19"/>
    <p:sldLayoutId id="2147483685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6611" y="1754587"/>
            <a:ext cx="6248255" cy="199830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Topic-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Network Performance Monitoring Tool (NPM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)</a:t>
            </a:r>
            <a:b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/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</a:br>
            <a: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</a:t>
            </a:r>
            <a:r>
              <a:rPr lang="en-IN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02-04-2026</a:t>
            </a:r>
            <a: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accent1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4994" y="3752894"/>
            <a:ext cx="5905500" cy="762076"/>
          </a:xfrm>
        </p:spPr>
        <p:txBody>
          <a:bodyPr>
            <a:noAutofit/>
          </a:bodyPr>
          <a:lstStyle/>
          <a:p>
            <a:pPr algn="r"/>
            <a:r>
              <a:rPr lang="en-IN" sz="2000" b="1" dirty="0">
                <a:solidFill>
                  <a:schemeClr val="bg1"/>
                </a:solidFill>
                <a:cs typeface="Arial" panose="020B0604020202020204" pitchFamily="34" charset="0"/>
              </a:rPr>
              <a:t>Rajendra Rathod </a:t>
            </a:r>
          </a:p>
          <a:p>
            <a:pPr algn="r"/>
            <a:r>
              <a:rPr lang="en-GB" sz="2000" b="1" dirty="0">
                <a:solidFill>
                  <a:schemeClr val="bg1"/>
                </a:solidFill>
                <a:cs typeface="Arial" panose="020B0604020202020204" pitchFamily="34" charset="0"/>
              </a:rPr>
              <a:t>FT – 04 (M tech in Cyber Security)</a:t>
            </a:r>
          </a:p>
          <a:p>
            <a:pPr algn="r"/>
            <a:r>
              <a:rPr lang="en-GB" sz="20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Networking Fundamentals</a:t>
            </a:r>
            <a:endParaRPr lang="en-US" sz="2000" b="1" dirty="0" smtClean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r"/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485425" y="6119446"/>
            <a:ext cx="6175069" cy="352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IN" sz="1600" dirty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www.race.reva.edu.in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646333" y="271291"/>
            <a:ext cx="5267501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400" b="1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516611" y="2995224"/>
            <a:ext cx="4127234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4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18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764011" y="1539258"/>
            <a:ext cx="5832753" cy="742464"/>
            <a:chOff x="1848112" y="1575921"/>
            <a:chExt cx="5365516" cy="613592"/>
          </a:xfrm>
        </p:grpSpPr>
        <p:sp>
          <p:nvSpPr>
            <p:cNvPr id="11" name="TextBox 10"/>
            <p:cNvSpPr txBox="1"/>
            <p:nvPr/>
          </p:nvSpPr>
          <p:spPr>
            <a:xfrm>
              <a:off x="2705936" y="1789403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48112" y="1575921"/>
              <a:ext cx="958096" cy="53414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727254" y="3081160"/>
            <a:ext cx="5429031" cy="646331"/>
            <a:chOff x="1848112" y="1639006"/>
            <a:chExt cx="5429031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6F8FA6-DB08-4060-9832-77D337D2BF55}"/>
                </a:ext>
              </a:extLst>
            </p:cNvPr>
            <p:cNvSpPr txBox="1"/>
            <p:nvPr/>
          </p:nvSpPr>
          <p:spPr>
            <a:xfrm>
              <a:off x="2769451" y="2022323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FZShuTi" pitchFamily="2" charset="-122"/>
                  <a:cs typeface="Times New Roman" panose="02020603050405020304" pitchFamily="18" charset="0"/>
                </a:rPr>
                <a:t>.</a:t>
              </a:r>
              <a:endPara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665486" y="1766582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48112" y="1639006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02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747686" y="4618163"/>
            <a:ext cx="5246134" cy="646331"/>
            <a:chOff x="1850072" y="1287804"/>
            <a:chExt cx="5246134" cy="6463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635632" y="1413375"/>
              <a:ext cx="4460574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2000" b="1" dirty="0">
                  <a:cs typeface="Times New Roman" panose="02020603050405020304" pitchFamily="18" charset="0"/>
                </a:rPr>
                <a:t>Objectives</a:t>
              </a:r>
              <a:endParaRPr lang="en-US" sz="20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850072" y="1287804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03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EE4032-D811-4C99-AE03-98362C887B64}"/>
              </a:ext>
            </a:extLst>
          </p:cNvPr>
          <p:cNvGrpSpPr/>
          <p:nvPr/>
        </p:nvGrpSpPr>
        <p:grpSpPr>
          <a:xfrm>
            <a:off x="5912143" y="1539258"/>
            <a:ext cx="5326477" cy="646331"/>
            <a:chOff x="7065582" y="-1892404"/>
            <a:chExt cx="5326477" cy="6463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FCC804-6C1D-4C67-B274-1978635DA6F9}"/>
                </a:ext>
              </a:extLst>
            </p:cNvPr>
            <p:cNvSpPr txBox="1"/>
            <p:nvPr/>
          </p:nvSpPr>
          <p:spPr>
            <a:xfrm>
              <a:off x="7893873" y="-1768326"/>
              <a:ext cx="4498186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2000" b="1" dirty="0">
                  <a:cs typeface="Times New Roman" panose="02020603050405020304" pitchFamily="18" charset="0"/>
                </a:rPr>
                <a:t>Tools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7AC64B-48B2-4F4F-A626-7901145018C6}"/>
                </a:ext>
              </a:extLst>
            </p:cNvPr>
            <p:cNvSpPr txBox="1"/>
            <p:nvPr/>
          </p:nvSpPr>
          <p:spPr>
            <a:xfrm>
              <a:off x="7065582" y="-1892404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5912143" y="2274368"/>
            <a:ext cx="5495017" cy="1371321"/>
            <a:chOff x="1718611" y="1789403"/>
            <a:chExt cx="5495017" cy="1435096"/>
          </a:xfrm>
        </p:grpSpPr>
        <p:sp>
          <p:nvSpPr>
            <p:cNvPr id="27" name="TextBox 26"/>
            <p:cNvSpPr txBox="1"/>
            <p:nvPr/>
          </p:nvSpPr>
          <p:spPr>
            <a:xfrm>
              <a:off x="2705936" y="1789403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718611" y="2548110"/>
              <a:ext cx="922750" cy="67638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5941372" y="4619393"/>
            <a:ext cx="5297248" cy="646331"/>
            <a:chOff x="1877341" y="1505312"/>
            <a:chExt cx="5297248" cy="64633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666897" y="1627193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2000" b="1" dirty="0">
                  <a:cs typeface="Times New Roman" panose="02020603050405020304" pitchFamily="18" charset="0"/>
                </a:rPr>
                <a:t>Conclusion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77341" y="1505312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1533246" y="1662369"/>
            <a:ext cx="20024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730928" y="3122468"/>
            <a:ext cx="23213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1899" y="3257936"/>
            <a:ext cx="22518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86949" y="444640"/>
            <a:ext cx="2094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Contents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36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39096" y="1825973"/>
            <a:ext cx="995082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/>
              <a:t>Network performance</a:t>
            </a:r>
            <a:r>
              <a:rPr lang="en-US" sz="2000" dirty="0"/>
              <a:t> refers to how efficiently and reliably a computer network transfers data between devices. It determines the </a:t>
            </a:r>
            <a:r>
              <a:rPr lang="en-US" sz="2000" b="1" dirty="0"/>
              <a:t>speed, quality, and stability</a:t>
            </a:r>
            <a:r>
              <a:rPr lang="en-US" sz="2000" dirty="0"/>
              <a:t> of communication in systems like the internet, enterprise networks, and cloud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Network Performance Monitoring Tool (NPM) is a system used to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monitor, analyze, and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optimize</a:t>
            </a:r>
            <a:r>
              <a:rPr lang="en-US" altLang="en-US" sz="2000" b="1" dirty="0"/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network performance in real time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It tracks important metrics like latency and bandwidth, detects issues quickly, and ensures smooth and secure network </a:t>
            </a:r>
            <a:r>
              <a:rPr lang="en-US" sz="2000" dirty="0" smtClean="0"/>
              <a:t>communication.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Ensures smooth communication between devices and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8373121" y="475009"/>
            <a:ext cx="33311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I</a:t>
            </a:r>
            <a:r>
              <a:rPr lang="en-US" sz="3200" b="1" dirty="0" smtClean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ntroduction</a:t>
            </a:r>
            <a:endParaRPr lang="en-US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33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70857" y="1868885"/>
            <a:ext cx="987552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Modern computer networks often experience issues such as high latency, packet loss, and bandwidth congestion, which can degrade performance and affect user experience. However, without real-time monitoring tools, it becomes difficult to detect, analyze, and resolve these problems efficiently. </a:t>
            </a:r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This </a:t>
            </a:r>
            <a:r>
              <a:rPr lang="en-US" sz="2000" dirty="0"/>
              <a:t>can lead to network downtime, reduced productivity, and potential security risks due to unnoticed abnormal activities. Therefore, there is a need for an automated Network Performance Monitoring Tool that can continuously monitor network health, provide real-time insights, and generate alerts for timely issue resolution</a:t>
            </a:r>
            <a:r>
              <a:rPr lang="en-US" sz="2000" dirty="0" smtClean="0"/>
              <a:t>.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950926" y="527260"/>
            <a:ext cx="38143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52751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97279" y="1680754"/>
            <a:ext cx="102238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40524" y="1847334"/>
            <a:ext cx="96092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-To develop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Performance Monitoring Tool (NPM)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network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-To provide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visualization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network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-To monitor key metrics such as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latency, bandwidth usage, and packet loss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-To detect network issues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instant alerts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8856617" y="483718"/>
            <a:ext cx="19594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Objectives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11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709" y="405938"/>
            <a:ext cx="8346198" cy="670055"/>
          </a:xfrm>
        </p:spPr>
        <p:txBody>
          <a:bodyPr/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Performance Factor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5029" y="1511329"/>
            <a:ext cx="994518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US" b="1" dirty="0" smtClean="0"/>
              <a:t>Latency </a:t>
            </a:r>
            <a:r>
              <a:rPr lang="en-US" b="1" dirty="0"/>
              <a:t>(Delay</a:t>
            </a:r>
            <a:r>
              <a:rPr lang="en-US" b="1" dirty="0" smtClean="0"/>
              <a:t>)</a:t>
            </a:r>
          </a:p>
          <a:p>
            <a:r>
              <a:rPr lang="en-US" dirty="0" smtClean="0"/>
              <a:t>        </a:t>
            </a:r>
            <a:r>
              <a:rPr lang="en-US" dirty="0"/>
              <a:t>Time taken for data to travel from source → destination (usually in milliseconds</a:t>
            </a:r>
            <a:r>
              <a:rPr lang="en-US" dirty="0" smtClean="0"/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                </a:t>
            </a:r>
            <a:r>
              <a:rPr lang="en-US" altLang="en-US" dirty="0" smtClean="0"/>
              <a:t>Detects </a:t>
            </a:r>
            <a:r>
              <a:rPr lang="en-US" altLang="en-US" dirty="0"/>
              <a:t>slow response times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/>
              <a:t>                Important </a:t>
            </a:r>
            <a:r>
              <a:rPr lang="en-US" altLang="en-US" dirty="0"/>
              <a:t>for real-time apps (video calls, </a:t>
            </a:r>
            <a:r>
              <a:rPr lang="en-US" altLang="en-US" dirty="0" smtClean="0"/>
              <a:t>gaming) </a:t>
            </a: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/>
              <a:t>                High </a:t>
            </a:r>
            <a:r>
              <a:rPr lang="en-US" altLang="en-US" dirty="0"/>
              <a:t>latency = delays, lag, poor user experience </a:t>
            </a:r>
          </a:p>
          <a:p>
            <a:endParaRPr lang="en-US" dirty="0" smtClean="0"/>
          </a:p>
          <a:p>
            <a:pPr marL="342900" indent="-342900">
              <a:buAutoNum type="arabicParenR" startAt="2"/>
            </a:pPr>
            <a:r>
              <a:rPr lang="en-US" b="1" dirty="0" smtClean="0"/>
              <a:t>Bandwidth Usage</a:t>
            </a:r>
          </a:p>
          <a:p>
            <a:r>
              <a:rPr lang="en-US" dirty="0"/>
              <a:t>         Amount of data being transmitted over the network (Mbps/</a:t>
            </a:r>
            <a:r>
              <a:rPr lang="en-US" dirty="0" err="1"/>
              <a:t>Gbps</a:t>
            </a:r>
            <a:r>
              <a:rPr lang="en-US" dirty="0"/>
              <a:t>).  </a:t>
            </a:r>
            <a:endParaRPr lang="en-US" dirty="0" smtClean="0"/>
          </a:p>
          <a:p>
            <a:r>
              <a:rPr lang="en-US" dirty="0"/>
              <a:t>                Shows network capacity </a:t>
            </a:r>
            <a:r>
              <a:rPr lang="en-US" dirty="0" smtClean="0"/>
              <a:t>usage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</a:t>
            </a:r>
            <a:r>
              <a:rPr lang="en-US" dirty="0"/>
              <a:t>Helps identify heavy </a:t>
            </a:r>
            <a:r>
              <a:rPr lang="en-US" dirty="0" smtClean="0"/>
              <a:t>traffic, Detects </a:t>
            </a:r>
            <a:r>
              <a:rPr lang="en-US" dirty="0"/>
              <a:t>unusual activity</a:t>
            </a:r>
            <a:endParaRPr lang="en-US" dirty="0" smtClean="0"/>
          </a:p>
          <a:p>
            <a:endParaRPr lang="en-US" dirty="0" smtClean="0"/>
          </a:p>
          <a:p>
            <a:pPr marL="342900" indent="-342900">
              <a:buAutoNum type="arabicParenR" startAt="3"/>
            </a:pPr>
            <a:r>
              <a:rPr lang="en-US" b="1" dirty="0" smtClean="0"/>
              <a:t>Packet </a:t>
            </a:r>
            <a:r>
              <a:rPr lang="en-US" b="1" dirty="0"/>
              <a:t>Loss </a:t>
            </a:r>
          </a:p>
          <a:p>
            <a:r>
              <a:rPr lang="en-US" dirty="0" smtClean="0"/>
              <a:t>         Percentage </a:t>
            </a:r>
            <a:r>
              <a:rPr lang="en-US" dirty="0"/>
              <a:t>of data packets that fail to reach destination</a:t>
            </a:r>
            <a:r>
              <a:rPr lang="en-US" dirty="0" smtClean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                </a:t>
            </a:r>
            <a:r>
              <a:rPr lang="en-US" altLang="en-US" dirty="0" smtClean="0"/>
              <a:t>Indicates </a:t>
            </a:r>
            <a:r>
              <a:rPr lang="en-US" altLang="en-US" dirty="0"/>
              <a:t>data reliability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/>
              <a:t>                High </a:t>
            </a:r>
            <a:r>
              <a:rPr lang="en-US" altLang="en-US" dirty="0"/>
              <a:t>packet loss = broken communication </a:t>
            </a:r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81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25691" y="562094"/>
            <a:ext cx="26299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Tool WorkFlow</a:t>
            </a: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31" y="1501820"/>
            <a:ext cx="10365649" cy="437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8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32915" y="527260"/>
            <a:ext cx="45371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Tool WorkFlow Interface</a:t>
            </a: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921" y="1423040"/>
            <a:ext cx="8729610" cy="46975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2495" y="1663337"/>
            <a:ext cx="2072641" cy="733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dirty="0"/>
              <a:t>Tests connectivity to a server (like Google)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 smtClean="0"/>
              <a:t> Measures</a:t>
            </a:r>
            <a:r>
              <a:rPr lang="en-US" altLang="en-US" sz="800" dirty="0"/>
              <a:t>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b="1" dirty="0"/>
              <a:t>Latency (</a:t>
            </a:r>
            <a:r>
              <a:rPr lang="en-US" altLang="en-US" sz="800" b="1" dirty="0" smtClean="0"/>
              <a:t>m</a:t>
            </a:r>
            <a:r>
              <a:rPr lang="en-US" altLang="en-US" sz="800" b="1" dirty="0"/>
              <a:t>)</a:t>
            </a:r>
            <a:r>
              <a:rPr lang="en-US" altLang="en-US" sz="800" b="1" dirty="0" smtClean="0"/>
              <a:t>s</a:t>
            </a:r>
            <a:endParaRPr lang="en-US" altLang="en-US" sz="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dirty="0"/>
              <a:t>Whether the server is reachable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dirty="0"/>
              <a:t>Helps detect </a:t>
            </a:r>
            <a:r>
              <a:rPr lang="en-US" altLang="en-US" sz="800" b="1" dirty="0"/>
              <a:t>network delay and downtime</a:t>
            </a:r>
            <a:r>
              <a:rPr lang="en-US" altLang="en-US" sz="800" dirty="0"/>
              <a:t> </a:t>
            </a:r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 flipV="1">
            <a:off x="2475136" y="1994264"/>
            <a:ext cx="1905275" cy="35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02494" y="2697161"/>
            <a:ext cx="2072641" cy="894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02495" y="2514770"/>
            <a:ext cx="207264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Tracks the </a:t>
            </a:r>
            <a:r>
              <a:rPr kumimoji="0" lang="en-US" altLang="en-US" sz="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path (hops)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 takes from your system to a destination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Helps identify: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Where delay is happening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Which router is causing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475136" y="2170442"/>
            <a:ext cx="2227493" cy="1103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02494" y="3831771"/>
            <a:ext cx="2072641" cy="965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402493" y="3717694"/>
            <a:ext cx="1883849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Converts a </a:t>
            </a:r>
            <a:r>
              <a:rPr kumimoji="0" lang="en-US" altLang="en-US" sz="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domain name → IP address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Example: google.com → 142.x.x.x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Helps detect: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DNS delays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Suspicious or slow domain resolutions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474128" y="2220686"/>
            <a:ext cx="2994855" cy="2264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93283" y="5010463"/>
            <a:ext cx="2081851" cy="981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Multi-Host Check</a:t>
            </a:r>
          </a:p>
          <a:p>
            <a:r>
              <a:rPr lang="en-US" sz="800" dirty="0"/>
              <a:t>Tests multiple servers at once </a:t>
            </a:r>
          </a:p>
          <a:p>
            <a:r>
              <a:rPr lang="en-US" sz="800" dirty="0"/>
              <a:t>Useful for: </a:t>
            </a:r>
            <a:endParaRPr lang="en-US" sz="800" dirty="0" smtClean="0"/>
          </a:p>
          <a:p>
            <a:r>
              <a:rPr lang="en-US" sz="800" dirty="0" smtClean="0"/>
              <a:t>Checking </a:t>
            </a:r>
            <a:r>
              <a:rPr lang="en-US" sz="800" dirty="0"/>
              <a:t>availability of different websites/services </a:t>
            </a:r>
            <a:r>
              <a:rPr lang="en-US" sz="800" dirty="0" smtClean="0"/>
              <a:t>Comparing </a:t>
            </a:r>
            <a:r>
              <a:rPr lang="en-US" sz="800" dirty="0"/>
              <a:t>performance across </a:t>
            </a:r>
            <a:r>
              <a:rPr lang="en-US" sz="800" dirty="0" smtClean="0"/>
              <a:t>servers.</a:t>
            </a:r>
            <a:endParaRPr lang="en-US" sz="800" dirty="0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2475135" y="2243130"/>
            <a:ext cx="3873414" cy="3487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499566" y="1122999"/>
            <a:ext cx="2603863" cy="1274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Bandwidth </a:t>
            </a:r>
            <a:r>
              <a:rPr lang="en-US" sz="800" b="1" dirty="0" smtClean="0"/>
              <a:t>History</a:t>
            </a:r>
            <a:endParaRPr lang="en-US" sz="800" b="1" dirty="0"/>
          </a:p>
          <a:p>
            <a:r>
              <a:rPr lang="en-US" sz="800" dirty="0"/>
              <a:t>A graph area showing </a:t>
            </a:r>
            <a:r>
              <a:rPr lang="en-US" sz="800" b="1" dirty="0"/>
              <a:t>network usage over time</a:t>
            </a:r>
            <a:r>
              <a:rPr lang="en-US" sz="800" dirty="0"/>
              <a:t> </a:t>
            </a:r>
          </a:p>
          <a:p>
            <a:r>
              <a:rPr lang="en-US" sz="800" dirty="0"/>
              <a:t>Tracks: </a:t>
            </a:r>
          </a:p>
          <a:p>
            <a:pPr lvl="1"/>
            <a:r>
              <a:rPr lang="en-US" sz="800" dirty="0"/>
              <a:t>Upload speed </a:t>
            </a:r>
          </a:p>
          <a:p>
            <a:pPr lvl="1"/>
            <a:r>
              <a:rPr lang="en-US" sz="800" dirty="0"/>
              <a:t>Download speed </a:t>
            </a:r>
            <a:endParaRPr lang="en-US" sz="800" dirty="0" smtClean="0"/>
          </a:p>
          <a:p>
            <a:pPr lvl="1"/>
            <a:endParaRPr lang="en-US" sz="800" dirty="0"/>
          </a:p>
          <a:p>
            <a:r>
              <a:rPr lang="en-US" sz="800" dirty="0"/>
              <a:t>Helps identify: </a:t>
            </a:r>
            <a:endParaRPr lang="en-US" sz="800" dirty="0" smtClean="0"/>
          </a:p>
          <a:p>
            <a:endParaRPr lang="en-US" sz="800" dirty="0"/>
          </a:p>
          <a:p>
            <a:pPr lvl="1"/>
            <a:r>
              <a:rPr lang="en-US" sz="800" dirty="0"/>
              <a:t>Traffic spikes </a:t>
            </a:r>
          </a:p>
          <a:p>
            <a:pPr lvl="1"/>
            <a:r>
              <a:rPr lang="en-US" sz="800" dirty="0"/>
              <a:t>Heavy usage patterns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8072846" y="2397119"/>
            <a:ext cx="792480" cy="1086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13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Outcome 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27908" y="1861346"/>
            <a:ext cx="907433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-Network </a:t>
            </a:r>
            <a:r>
              <a:rPr lang="en-US" dirty="0"/>
              <a:t>performance can be improved by optimizing latency, bandwidth usage, and packet reliability through proper configuration, monitoring, and hardware </a:t>
            </a:r>
            <a:r>
              <a:rPr lang="en-US" dirty="0" smtClean="0"/>
              <a:t>improvements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-To </a:t>
            </a:r>
            <a:r>
              <a:rPr lang="en-US" dirty="0"/>
              <a:t>improve network performance:</a:t>
            </a:r>
          </a:p>
          <a:p>
            <a:r>
              <a:rPr lang="en-US" dirty="0"/>
              <a:t>Reduce </a:t>
            </a:r>
            <a:r>
              <a:rPr lang="en-US" b="1" dirty="0"/>
              <a:t>latency</a:t>
            </a:r>
            <a:r>
              <a:rPr lang="en-US" dirty="0"/>
              <a:t> </a:t>
            </a:r>
          </a:p>
          <a:p>
            <a:r>
              <a:rPr lang="en-US" dirty="0"/>
              <a:t>Optimize </a:t>
            </a:r>
            <a:r>
              <a:rPr lang="en-US" b="1" dirty="0"/>
              <a:t>bandwidth</a:t>
            </a:r>
            <a:r>
              <a:rPr lang="en-US" dirty="0"/>
              <a:t> </a:t>
            </a:r>
          </a:p>
          <a:p>
            <a:r>
              <a:rPr lang="en-US" dirty="0"/>
              <a:t>Minimize </a:t>
            </a:r>
            <a:r>
              <a:rPr lang="en-US" b="1" dirty="0"/>
              <a:t>packet loss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350883"/>
              </p:ext>
            </p:extLst>
          </p:nvPr>
        </p:nvGraphicFramePr>
        <p:xfrm>
          <a:off x="1227908" y="4446669"/>
          <a:ext cx="6496596" cy="1463040"/>
        </p:xfrm>
        <a:graphic>
          <a:graphicData uri="http://schemas.openxmlformats.org/drawingml/2006/table">
            <a:tbl>
              <a:tblPr/>
              <a:tblGrid>
                <a:gridCol w="3248298">
                  <a:extLst>
                    <a:ext uri="{9D8B030D-6E8A-4147-A177-3AD203B41FA5}">
                      <a16:colId xmlns:a16="http://schemas.microsoft.com/office/drawing/2014/main" val="2686777937"/>
                    </a:ext>
                  </a:extLst>
                </a:gridCol>
                <a:gridCol w="3248298">
                  <a:extLst>
                    <a:ext uri="{9D8B030D-6E8A-4147-A177-3AD203B41FA5}">
                      <a16:colId xmlns:a16="http://schemas.microsoft.com/office/drawing/2014/main" val="1408841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n-lt"/>
                        </a:rPr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n-lt"/>
                        </a:rPr>
                        <a:t>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02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Slow internet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bandwidth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282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Video buffering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Fix packet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83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Gaming 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30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779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88210" y="535968"/>
            <a:ext cx="18069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Conclusion</a:t>
            </a:r>
            <a:endParaRPr lang="en-US" sz="28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22812" y="1533349"/>
            <a:ext cx="11190514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Network Performance Monitoring Tool provides an effective solution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real-time monitoring and analysis of network performance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 helps in tracking key metrics like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latency, bandwidth usage, and packet loss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system enables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quick detection of network issues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generates alerts for timely action 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Integration of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machine learning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enhances the ability to detect anomalies and unusual patterns</a:t>
            </a:r>
            <a:r>
              <a:rPr lang="en-US" altLang="en-US" sz="2000" dirty="0" smtClean="0"/>
              <a:t>(</a:t>
            </a:r>
            <a:r>
              <a:rPr lang="en-US" altLang="en-US" sz="2000" b="1" dirty="0" smtClean="0"/>
              <a:t>Still understanding the Concept</a:t>
            </a:r>
            <a:r>
              <a:rPr lang="en-US" altLang="en-US" sz="2000" dirty="0" smtClean="0"/>
              <a:t>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tool improves overall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network reliability, efficiency, and security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 can be further enhanced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large-scale and enterprise-level applications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7787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993" y="1776401"/>
            <a:ext cx="3711482" cy="36337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041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3124</TotalTime>
  <Words>668</Words>
  <Application>Microsoft Office PowerPoint</Application>
  <PresentationFormat>Widescreen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FZShuTi</vt:lpstr>
      <vt:lpstr>Times New Roman</vt:lpstr>
      <vt:lpstr>Office Theme</vt:lpstr>
      <vt:lpstr>Topic- Network Performance Monitoring Tool (NPM)  Date: 02-04-2026 </vt:lpstr>
      <vt:lpstr>PowerPoint Presentation</vt:lpstr>
      <vt:lpstr>PowerPoint Presentation</vt:lpstr>
      <vt:lpstr>PowerPoint Presentation</vt:lpstr>
      <vt:lpstr>PowerPoint Presentation</vt:lpstr>
      <vt:lpstr>Performance Factor</vt:lpstr>
      <vt:lpstr>PowerPoint Presentation</vt:lpstr>
      <vt:lpstr>PowerPoint Presentation</vt:lpstr>
      <vt:lpstr>Outcome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Dell</cp:lastModifiedBy>
  <cp:revision>291</cp:revision>
  <dcterms:created xsi:type="dcterms:W3CDTF">2020-01-23T06:03:51Z</dcterms:created>
  <dcterms:modified xsi:type="dcterms:W3CDTF">2026-04-02T11:02:20Z</dcterms:modified>
</cp:coreProperties>
</file>